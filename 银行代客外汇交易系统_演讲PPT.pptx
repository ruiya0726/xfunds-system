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54864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37160" cy="10972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05840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5400" b="1" dirty="0">
                <a:solidFill>
                  <a:srgbClr val="FFFFFF"/>
                </a:solidFill>
                <a:latin typeface="微软雅黑"/>
                <a:ea typeface="微软雅黑"/>
              </a:rPr>
              <a:t>银行代客外汇交易系统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200" b="0" dirty="0">
                <a:solidFill>
                  <a:srgbClr val="5B9BD5"/>
                </a:solidFill>
                <a:latin typeface="微软雅黑"/>
                <a:ea typeface="微软雅黑"/>
              </a:rPr>
              <a:t>Bank Customer Foreign Exchange Trading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49039"/>
            <a:ext cx="100584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000" b="0" dirty="0">
                <a:solidFill>
                  <a:srgbClr val="FFFFFF"/>
                </a:solidFill>
                <a:latin typeface="微软雅黑"/>
                <a:ea typeface="微软雅黑"/>
              </a:rPr>
              <a:t>覆盖即期、远期、掉期、期权四大外汇产品全生命周期的数字化交易平台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600" b="0" dirty="0">
                <a:solidFill>
                  <a:srgbClr val="D4A04C"/>
                </a:solidFill>
                <a:latin typeface="微软雅黑"/>
                <a:ea typeface="微软雅黑"/>
              </a:rPr>
              <a:t>软件需求与系统设计汇报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035040"/>
            <a:ext cx="100584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400" b="0" dirty="0">
                <a:solidFill>
                  <a:srgbClr val="5B9BD5"/>
                </a:solidFill>
                <a:latin typeface="微软雅黑"/>
                <a:ea typeface="微软雅黑"/>
              </a:rPr>
              <a:t>2026 年 7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09728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144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微软雅黑"/>
                <a:ea typeface="微软雅黑"/>
              </a:rPr>
              <a:t>目  录 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0"/>
            <a:ext cx="1280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2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 dirty="0">
                <a:solidFill>
                  <a:srgbClr val="FFFFFF"/>
                </a:solidFill>
                <a:latin typeface="微软雅黑"/>
                <a:ea typeface="微软雅黑"/>
              </a:rPr>
              <a:t>银行代客外汇交易系统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914400" cy="9144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9144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25880"/>
            <a:ext cx="4114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000" b="1" dirty="0">
                <a:solidFill>
                  <a:srgbClr val="1F3864"/>
                </a:solidFill>
                <a:latin typeface="微软雅黑"/>
                <a:ea typeface="微软雅黑"/>
              </a:rPr>
              <a:t>项目背景与意义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783080"/>
            <a:ext cx="4114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微软雅黑"/>
                <a:ea typeface="微软雅黑"/>
              </a:rPr>
              <a:t>业务痛点 · 建设目标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71800"/>
            <a:ext cx="914400" cy="9144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9144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017520"/>
            <a:ext cx="4114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000" b="1" dirty="0">
                <a:solidFill>
                  <a:srgbClr val="1F3864"/>
                </a:solidFill>
                <a:latin typeface="微软雅黑"/>
                <a:ea typeface="微软雅黑"/>
              </a:rPr>
              <a:t>系统总体概述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74720"/>
            <a:ext cx="4114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微软雅黑"/>
                <a:ea typeface="微软雅黑"/>
              </a:rPr>
              <a:t>产品定位 · 功能架构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63440"/>
            <a:ext cx="914400" cy="9144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9144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09160"/>
            <a:ext cx="4114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000" b="1" dirty="0">
                <a:solidFill>
                  <a:srgbClr val="1F3864"/>
                </a:solidFill>
                <a:latin typeface="微软雅黑"/>
                <a:ea typeface="微软雅黑"/>
              </a:rPr>
              <a:t>核心功能展示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166360"/>
            <a:ext cx="4114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微软雅黑"/>
                <a:ea typeface="微软雅黑"/>
              </a:rPr>
              <a:t>四大交易产品 · 全生命周期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280160"/>
            <a:ext cx="914400" cy="9144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280160"/>
            <a:ext cx="9144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1325880"/>
            <a:ext cx="4114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000" b="1" dirty="0">
                <a:solidFill>
                  <a:srgbClr val="1F3864"/>
                </a:solidFill>
                <a:latin typeface="微软雅黑"/>
                <a:ea typeface="微软雅黑"/>
              </a:rPr>
              <a:t>审批工作流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1783080"/>
            <a:ext cx="4114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微软雅黑"/>
                <a:ea typeface="微软雅黑"/>
              </a:rPr>
              <a:t>三级机构 · Maker-Checker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971800"/>
            <a:ext cx="914400" cy="9144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971800"/>
            <a:ext cx="9144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017520"/>
            <a:ext cx="4114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000" b="1" dirty="0">
                <a:solidFill>
                  <a:srgbClr val="1F3864"/>
                </a:solidFill>
                <a:latin typeface="微软雅黑"/>
                <a:ea typeface="微软雅黑"/>
              </a:rPr>
              <a:t>系统特色与创新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474720"/>
            <a:ext cx="4114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微软雅黑"/>
                <a:ea typeface="微软雅黑"/>
              </a:rPr>
              <a:t>业务完备 · 风险可控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663440"/>
            <a:ext cx="914400" cy="9144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663440"/>
            <a:ext cx="9144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4709160"/>
            <a:ext cx="4114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000" b="1" dirty="0">
                <a:solidFill>
                  <a:srgbClr val="1F3864"/>
                </a:solidFill>
                <a:latin typeface="微软雅黑"/>
                <a:ea typeface="微软雅黑"/>
              </a:rPr>
              <a:t>应用价值与总结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5166360"/>
            <a:ext cx="4114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微软雅黑"/>
                <a:ea typeface="微软雅黑"/>
              </a:rPr>
              <a:t>效率提升 · 合规保障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09728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144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微软雅黑"/>
                <a:ea typeface="微软雅黑"/>
              </a:rPr>
              <a:t>一、项目背景与意义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0"/>
            <a:ext cx="1280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3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 dirty="0">
                <a:solidFill>
                  <a:srgbClr val="FFFFFF"/>
                </a:solidFill>
                <a:latin typeface="微软雅黑"/>
                <a:ea typeface="微软雅黑"/>
              </a:rPr>
              <a:t>银行代客外汇交易系统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微软雅黑"/>
                <a:ea typeface="微软雅黑"/>
              </a:rPr>
              <a:t>  传统业务痛点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212080" cy="41148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500" b="0" dirty="0">
                <a:solidFill>
                  <a:srgbClr val="333333"/>
                </a:solidFill>
                <a:latin typeface="微软雅黑"/>
                <a:ea typeface="微软雅黑"/>
              </a:rPr>
              <a:t>依赖人工操作，交易数据难追溯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500" b="0" dirty="0">
                <a:solidFill>
                  <a:srgbClr val="333333"/>
                </a:solidFill>
                <a:latin typeface="微软雅黑"/>
                <a:ea typeface="微软雅黑"/>
              </a:rPr>
              <a:t>审批流程不规范，操作风险较高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500" b="0" dirty="0">
                <a:solidFill>
                  <a:srgbClr val="333333"/>
                </a:solidFill>
                <a:latin typeface="微软雅黑"/>
                <a:ea typeface="微软雅黑"/>
              </a:rPr>
              <a:t>风险控制手段不足，保证金管理粗放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500" b="0" dirty="0">
                <a:solidFill>
                  <a:srgbClr val="333333"/>
                </a:solidFill>
                <a:latin typeface="微软雅黑"/>
                <a:ea typeface="微软雅黑"/>
              </a:rPr>
              <a:t>跨产品交易分散处理，效率低下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500" b="0" dirty="0">
                <a:solidFill>
                  <a:srgbClr val="333333"/>
                </a:solidFill>
                <a:latin typeface="微软雅黑"/>
                <a:ea typeface="微软雅黑"/>
              </a:rPr>
              <a:t>监管报送数据难以统一归集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微软雅黑"/>
                <a:ea typeface="微软雅黑"/>
              </a:rPr>
              <a:t>  系统建设目标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37360"/>
            <a:ext cx="5394960" cy="41148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500" b="0" dirty="0">
                <a:solidFill>
                  <a:srgbClr val="333333"/>
                </a:solidFill>
                <a:latin typeface="微软雅黑"/>
                <a:ea typeface="微软雅黑"/>
              </a:rPr>
              <a:t>全流程电子化，交易数据完整可追溯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500" b="0" dirty="0">
                <a:solidFill>
                  <a:srgbClr val="333333"/>
                </a:solidFill>
                <a:latin typeface="微软雅黑"/>
                <a:ea typeface="微软雅黑"/>
              </a:rPr>
              <a:t>经办—复核双人工作流，规范审批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500" b="0" dirty="0">
                <a:solidFill>
                  <a:srgbClr val="333333"/>
                </a:solidFill>
                <a:latin typeface="微软雅黑"/>
                <a:ea typeface="微软雅黑"/>
              </a:rPr>
              <a:t>保证金盯市与轧差控制，风险可控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500" b="0" dirty="0">
                <a:solidFill>
                  <a:srgbClr val="333333"/>
                </a:solidFill>
                <a:latin typeface="微软雅黑"/>
                <a:ea typeface="微软雅黑"/>
              </a:rPr>
              <a:t>四大外汇产品集中管理，提升效率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500" b="0" dirty="0">
                <a:solidFill>
                  <a:srgbClr val="333333"/>
                </a:solidFill>
                <a:latin typeface="微软雅黑"/>
                <a:ea typeface="微软雅黑"/>
              </a:rPr>
              <a:t>预留监管报送字段，满足合规要求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09728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144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微软雅黑"/>
                <a:ea typeface="微软雅黑"/>
              </a:rPr>
              <a:t>二、系统总体概述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0"/>
            <a:ext cx="1280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4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 dirty="0">
                <a:solidFill>
                  <a:srgbClr val="FFFFFF"/>
                </a:solidFill>
                <a:latin typeface="微软雅黑"/>
                <a:ea typeface="微软雅黑"/>
              </a:rPr>
              <a:t>银行代客外汇交易系统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600" b="0" dirty="0">
                <a:solidFill>
                  <a:srgbClr val="666666"/>
                </a:solidFill>
                <a:latin typeface="微软雅黑"/>
                <a:ea typeface="微软雅黑"/>
              </a:rPr>
              <a:t>一套面向银行外汇业务部门的前后端分离应用系统，实现代客外汇业务全流程数字化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3891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566160" cy="6400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35661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微软雅黑"/>
                <a:ea typeface="微软雅黑"/>
              </a:rPr>
              <a:t>外汇交易管理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3200400" cy="34747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外汇工作台（牌价展示）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即期 / 远期 / 掉期交易录入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未到期与到期交易管理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客户交易查询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待办任务处理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566160" cy="43891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737360"/>
            <a:ext cx="3566160" cy="6400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737360"/>
            <a:ext cx="35661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微软雅黑"/>
                <a:ea typeface="微软雅黑"/>
              </a:rPr>
              <a:t>期权交易管理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560320"/>
            <a:ext cx="3200400" cy="34747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期权工作台（价内提醒）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欧式 / 美式期权录入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存续期管理（行权/放弃）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期权费交割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期权交易查询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737360"/>
            <a:ext cx="3566160" cy="43891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737360"/>
            <a:ext cx="3566160" cy="64008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737360"/>
            <a:ext cx="35661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微软雅黑"/>
                <a:ea typeface="微软雅黑"/>
              </a:rPr>
              <a:t>公共管理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560320"/>
            <a:ext cx="3200400" cy="34747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D4A04C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系统参数管理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D4A04C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客户与账户管理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D4A04C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登录用户与权限管理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D4A04C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保证金与授信管理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D4A04C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定时任务监控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09728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144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微软雅黑"/>
                <a:ea typeface="微软雅黑"/>
              </a:rPr>
              <a:t>三、核心功能 · 外汇牌价管理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0"/>
            <a:ext cx="1280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5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 dirty="0">
                <a:solidFill>
                  <a:srgbClr val="FFFFFF"/>
                </a:solidFill>
                <a:latin typeface="微软雅黑"/>
                <a:ea typeface="微软雅黑"/>
              </a:rPr>
              <a:t>银行代客外汇交易系统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dirty="0">
                <a:solidFill>
                  <a:srgbClr val="666666"/>
                </a:solidFill>
                <a:latin typeface="微软雅黑"/>
                <a:ea typeface="微软雅黑"/>
              </a:rPr>
              <a:t>即期、远期、掉期三类牌价实时展示，覆盖十余种常用币种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dirty="0">
                <a:solidFill>
                  <a:srgbClr val="1F3864"/>
                </a:solidFill>
                <a:latin typeface="微软雅黑"/>
                <a:ea typeface="微软雅黑"/>
              </a:rPr>
              <a:t>▎牌价展示要素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011680"/>
          <a:ext cx="5669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108960"/>
              </a:tblGrid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汇率字段</a:t>
                      </a:r>
                    </a:p>
                  </a:txBody>
                  <a:tcPr anchor="ctr" marL="50800" marR="50800" marT="25400" marB="25400">
                    <a:solidFill>
                      <a:srgbClr val="2E5C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anchor="ctr" marL="50800" marR="50800" marT="25400" marB="25400">
                    <a:solidFill>
                      <a:srgbClr val="2E5C8A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总行买入价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总行向客户买入外汇的汇率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总行卖出价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总行向客户卖出外汇的汇率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分/客买价（低值）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客户卖出外汇时的汇率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分/客卖价（高值）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客户买入外汇时的汇率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市场中间价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市场基准汇率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0" y="155448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dirty="0">
                <a:solidFill>
                  <a:srgbClr val="1F3864"/>
                </a:solidFill>
                <a:latin typeface="微软雅黑"/>
                <a:ea typeface="微软雅黑"/>
              </a:rPr>
              <a:t>▎牌价机制特性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5029200" cy="41148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点击分/客买价或卖价直接进入交易录入页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自动预填币种、汇率与买卖方向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每小时定时刷新牌价，满足银行利润约束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汇率精确至小数点后 4 位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历史牌价保留最长一周后自动清理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支持美元、欧元、英镑、日元等十余币种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09728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144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微软雅黑"/>
                <a:ea typeface="微软雅黑"/>
              </a:rPr>
              <a:t>三、核心功能 · 四大外汇交易产品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0"/>
            <a:ext cx="1280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6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 dirty="0">
                <a:solidFill>
                  <a:srgbClr val="FFFFFF"/>
                </a:solidFill>
                <a:latin typeface="微软雅黑"/>
                <a:ea typeface="微软雅黑"/>
              </a:rPr>
              <a:t>银行代客外汇交易系统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26974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2697480" cy="9144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43000"/>
            <a:ext cx="26974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微软雅黑"/>
                <a:ea typeface="微软雅黑"/>
              </a:rPr>
              <a:t>即期交易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269748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0" dirty="0">
                <a:solidFill>
                  <a:srgbClr val="FFFFFF"/>
                </a:solidFill>
                <a:latin typeface="微软雅黑"/>
                <a:ea typeface="微软雅黑"/>
              </a:rPr>
              <a:t>当日成交，两日内交割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2423160" cy="32004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000" b="0" dirty="0">
                <a:solidFill>
                  <a:srgbClr val="5B9BD5"/>
                </a:solidFill>
                <a:latin typeface="微软雅黑"/>
                <a:ea typeface="微软雅黑"/>
              </a:rPr>
              <a:t>● 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自动预填汇率与方向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000" b="0" dirty="0">
                <a:solidFill>
                  <a:srgbClr val="5B9BD5"/>
                </a:solidFill>
                <a:latin typeface="微软雅黑"/>
                <a:ea typeface="微软雅黑"/>
              </a:rPr>
              <a:t>● 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交割方式固定全额交割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000" b="0" dirty="0">
                <a:solidFill>
                  <a:srgbClr val="5B9BD5"/>
                </a:solidFill>
                <a:latin typeface="微软雅黑"/>
                <a:ea typeface="微软雅黑"/>
              </a:rPr>
              <a:t>● 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支持 T+0/T+1/T+2 交割类型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097280"/>
            <a:ext cx="26974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097280"/>
            <a:ext cx="2697480" cy="9144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43000"/>
            <a:ext cx="26974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微软雅黑"/>
                <a:ea typeface="微软雅黑"/>
              </a:rPr>
              <a:t>远期交易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600200"/>
            <a:ext cx="269748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0" dirty="0">
                <a:solidFill>
                  <a:srgbClr val="FFFFFF"/>
                </a:solidFill>
                <a:latin typeface="微软雅黑"/>
                <a:ea typeface="微软雅黑"/>
              </a:rPr>
              <a:t>约定未来日期按固定汇率交割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194560"/>
            <a:ext cx="2423160" cy="32004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0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含到期日、远期汇率、远期点数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0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默认全额交割不可修改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0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支持保证金管理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097280"/>
            <a:ext cx="26974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097280"/>
            <a:ext cx="269748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143000"/>
            <a:ext cx="26974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微软雅黑"/>
                <a:ea typeface="微软雅黑"/>
              </a:rPr>
              <a:t>掉期交易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600200"/>
            <a:ext cx="269748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0" dirty="0">
                <a:solidFill>
                  <a:srgbClr val="FFFFFF"/>
                </a:solidFill>
                <a:latin typeface="微软雅黑"/>
                <a:ea typeface="微软雅黑"/>
              </a:rPr>
              <a:t>近端远端方向相反金额相同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94560"/>
            <a:ext cx="2423160" cy="32004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000" b="0" dirty="0">
                <a:solidFill>
                  <a:srgbClr val="1F3864"/>
                </a:solidFill>
                <a:latin typeface="微软雅黑"/>
                <a:ea typeface="微软雅黑"/>
              </a:rPr>
              <a:t>● 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近端/远端两腿结构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000" b="0" dirty="0">
                <a:solidFill>
                  <a:srgbClr val="1F3864"/>
                </a:solidFill>
                <a:latin typeface="微软雅黑"/>
                <a:ea typeface="微软雅黑"/>
              </a:rPr>
              <a:t>● 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支持 ON/TN/SN/SW/1M 期限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000" b="0" dirty="0">
                <a:solidFill>
                  <a:srgbClr val="1F3864"/>
                </a:solidFill>
                <a:latin typeface="微软雅黑"/>
                <a:ea typeface="微软雅黑"/>
              </a:rPr>
              <a:t>● 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远端金额自动同步近端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1097280"/>
            <a:ext cx="26974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1097280"/>
            <a:ext cx="2697480" cy="9144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1143000"/>
            <a:ext cx="26974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微软雅黑"/>
                <a:ea typeface="微软雅黑"/>
              </a:rPr>
              <a:t>期权交易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1600200"/>
            <a:ext cx="269748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0" dirty="0">
                <a:solidFill>
                  <a:srgbClr val="FFFFFF"/>
                </a:solidFill>
                <a:latin typeface="微软雅黑"/>
                <a:ea typeface="微软雅黑"/>
              </a:rPr>
              <a:t>买方付费获得未来买卖权利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194560"/>
            <a:ext cx="2423160" cy="32004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0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欧式/美式两类期权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0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期权费按面值 5% 自动计算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0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行权时点固定 15:00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09728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144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微软雅黑"/>
                <a:ea typeface="微软雅黑"/>
              </a:rPr>
              <a:t>三、核心功能 · 交易存续期管理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0"/>
            <a:ext cx="1280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7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 dirty="0">
                <a:solidFill>
                  <a:srgbClr val="FFFFFF"/>
                </a:solidFill>
                <a:latin typeface="微软雅黑"/>
                <a:ea typeface="微软雅黑"/>
              </a:rPr>
              <a:t>银行代客外汇交易系统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dirty="0">
                <a:solidFill>
                  <a:srgbClr val="666666"/>
                </a:solidFill>
                <a:latin typeface="微软雅黑"/>
                <a:ea typeface="微软雅黑"/>
              </a:rPr>
              <a:t>支持交易生效后、到期前的全生命周期操作，自动生成关联交易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dirty="0">
                <a:solidFill>
                  <a:srgbClr val="1F3864"/>
                </a:solidFill>
                <a:latin typeface="微软雅黑"/>
                <a:ea typeface="微软雅黑"/>
              </a:rPr>
              <a:t>▎外汇交易存续期操作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0116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75895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操作</a:t>
                      </a:r>
                    </a:p>
                  </a:txBody>
                  <a:tcPr anchor="ctr" marL="50800" marR="50800" marT="25400" marB="25400">
                    <a:solidFill>
                      <a:srgbClr val="2E5C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适用交易</a:t>
                      </a:r>
                    </a:p>
                  </a:txBody>
                  <a:tcPr anchor="ctr" marL="50800" marR="50800" marT="25400" marB="25400">
                    <a:solidFill>
                      <a:srgbClr val="2E5C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处理逻辑</a:t>
                      </a:r>
                    </a:p>
                  </a:txBody>
                  <a:tcPr anchor="ctr" marL="50800" marR="50800" marT="25400" marB="25400">
                    <a:solidFill>
                      <a:srgbClr val="2E5C8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提前交割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远期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生成掉期交易，近端实时牌价、远端原交易汇率（审批制）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提前违约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远期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生成即期（差额交割）+ 掉期（无需交割），冻结轧差账户资金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原价展期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远期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生成掉期交易，近远端均使用原交易汇率（审批制）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市价展期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远期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生成掉期交易，近端实时牌价、远端原交易汇率（审批制）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全部违约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掉期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使用实时牌价生成反向掉期交易平盘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dirty="0">
                <a:solidFill>
                  <a:srgbClr val="ED7D31"/>
                </a:solidFill>
                <a:latin typeface="微软雅黑"/>
                <a:ea typeface="微软雅黑"/>
              </a:rPr>
              <a:t>▎期权交易存续期操作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0972800" cy="10972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欧式期权：到期日 15:00 后可执行行权或放弃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美式期权：到期日前 15:00 后即可行权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放弃期权采用审批制，审批通过才解冻账户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09728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144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微软雅黑"/>
                <a:ea typeface="微软雅黑"/>
              </a:rPr>
              <a:t>四、审批工作流 · 三级机构 Maker-Checker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0"/>
            <a:ext cx="1280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8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 dirty="0">
                <a:solidFill>
                  <a:srgbClr val="FFFFFF"/>
                </a:solidFill>
                <a:latin typeface="微软雅黑"/>
                <a:ea typeface="微软雅黑"/>
              </a:rPr>
              <a:t>银行代客外汇交易系统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dirty="0">
                <a:solidFill>
                  <a:srgbClr val="666666"/>
                </a:solidFill>
                <a:latin typeface="微软雅黑"/>
                <a:ea typeface="微软雅黑"/>
              </a:rPr>
              <a:t>总行 / 分行 / 支行三级机构，经办—复核—授权三级审批，额度超限自动升级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3767" y="1828800"/>
            <a:ext cx="1828800" cy="91440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微软雅黑"/>
                <a:ea typeface="微软雅黑"/>
              </a:rPr>
              <a:t>经办员</a:t>
            </a:r>
          </a:p>
          <a:p>
            <a:pPr algn="ctr"/>
            <a:r>
              <a:rPr sz="1300" b="1" dirty="0">
                <a:solidFill>
                  <a:srgbClr val="FFFFFF"/>
                </a:solidFill>
                <a:latin typeface="微软雅黑"/>
                <a:ea typeface="微软雅黑"/>
              </a:rPr>
              <a:t>发起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12567" y="2103120"/>
            <a:ext cx="3200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32607" y="1828800"/>
            <a:ext cx="1828800" cy="9144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微软雅黑"/>
                <a:ea typeface="微软雅黑"/>
              </a:rPr>
              <a:t>待复核</a:t>
            </a:r>
          </a:p>
          <a:p>
            <a:pPr algn="ctr"/>
            <a:r>
              <a:rPr sz="1300" b="1" dirty="0">
                <a:solidFill>
                  <a:srgbClr val="FFFFFF"/>
                </a:solidFill>
                <a:latin typeface="微软雅黑"/>
                <a:ea typeface="微软雅黑"/>
              </a:rPr>
              <a:t>PENDING_CHECK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61407" y="2103120"/>
            <a:ext cx="3200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81447" y="1828800"/>
            <a:ext cx="1828800" cy="91440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微软雅黑"/>
                <a:ea typeface="微软雅黑"/>
              </a:rPr>
              <a:t>复核员</a:t>
            </a:r>
          </a:p>
          <a:p>
            <a:pPr algn="ctr"/>
            <a:r>
              <a:rPr sz="1300" b="1" dirty="0">
                <a:solidFill>
                  <a:srgbClr val="FFFFFF"/>
                </a:solidFill>
                <a:latin typeface="微软雅黑"/>
                <a:ea typeface="微软雅黑"/>
              </a:rPr>
              <a:t>审核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10247" y="2103120"/>
            <a:ext cx="3200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30287" y="1828800"/>
            <a:ext cx="1828800" cy="914400"/>
          </a:xfrm>
          <a:prstGeom prst="round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微软雅黑"/>
                <a:ea typeface="微软雅黑"/>
              </a:rPr>
              <a:t>生效</a:t>
            </a:r>
          </a:p>
          <a:p>
            <a:pPr algn="ctr"/>
            <a:r>
              <a:rPr sz="1300" b="1" dirty="0">
                <a:solidFill>
                  <a:srgbClr val="FFFFFF"/>
                </a:solidFill>
                <a:latin typeface="微软雅黑"/>
                <a:ea typeface="微软雅黑"/>
              </a:rPr>
              <a:t>ACTIVE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59087" y="2103120"/>
            <a:ext cx="3200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79127" y="1828800"/>
            <a:ext cx="1828800" cy="9144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微软雅黑"/>
                <a:ea typeface="微软雅黑"/>
              </a:rPr>
              <a:t>（超额）</a:t>
            </a:r>
          </a:p>
          <a:p>
            <a:pPr algn="ctr"/>
            <a:r>
              <a:rPr sz="1300" b="1" dirty="0">
                <a:solidFill>
                  <a:srgbClr val="FFFFFF"/>
                </a:solidFill>
                <a:latin typeface="微软雅黑"/>
                <a:ea typeface="微软雅黑"/>
              </a:rPr>
              <a:t>上级授权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 dirty="0">
                <a:solidFill>
                  <a:srgbClr val="1F3864"/>
                </a:solidFill>
                <a:latin typeface="微软雅黑"/>
                <a:ea typeface="微软雅黑"/>
              </a:rPr>
              <a:t>▎工作流规则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57600"/>
            <a:ext cx="5486400" cy="2560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经办与复核不可为同一人，系统校验拒绝自我复核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复核通过：交易生效；超额则升级上级机构授权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复核拒绝：交易置为已拒绝，可修改后重新提交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57600"/>
            <a:ext cx="5486400" cy="2560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退回经办：生成修改任务回退原经办人修改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管理员可跨机构处理；非管理员仅处理本机构任务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统一待办队列，支持认领、超时升级、机构隔离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09728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144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微软雅黑"/>
                <a:ea typeface="微软雅黑"/>
              </a:rPr>
              <a:t>五、系统特色与创新（一）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0"/>
            <a:ext cx="1280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9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 dirty="0">
                <a:solidFill>
                  <a:srgbClr val="FFFFFF"/>
                </a:solidFill>
                <a:latin typeface="微软雅黑"/>
                <a:ea typeface="微软雅黑"/>
              </a:rPr>
              <a:t>银行代客外汇交易系统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 dirty="0">
                <a:solidFill>
                  <a:srgbClr val="1F3864"/>
                </a:solidFill>
                <a:latin typeface="微软雅黑"/>
                <a:ea typeface="微软雅黑"/>
              </a:rPr>
              <a:t>业务完备 · 风险可控 · 流程规范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554480"/>
            <a:ext cx="822960" cy="82296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54480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 dirty="0">
                <a:solidFill>
                  <a:srgbClr val="1F3864"/>
                </a:solidFill>
                <a:latin typeface="微软雅黑"/>
                <a:ea typeface="微软雅黑"/>
              </a:rPr>
              <a:t>产品全覆盖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57400"/>
            <a:ext cx="45720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即期、远期、掉期、期权四大外汇产品全生命周期管理，一个平台完成全部代客外汇业务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1554480"/>
            <a:ext cx="822960" cy="82296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554480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 dirty="0">
                <a:solidFill>
                  <a:srgbClr val="1F3864"/>
                </a:solidFill>
                <a:latin typeface="微软雅黑"/>
                <a:ea typeface="微软雅黑"/>
              </a:rPr>
              <a:t>三级审批工作流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057400"/>
            <a:ext cx="45720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总行/分行/支行三级机构，经办—复核—授权三级审批，审批额度自动升级，杜绝单人操作风险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023360"/>
            <a:ext cx="822960" cy="822960"/>
          </a:xfrm>
          <a:prstGeom prst="ellipse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60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 dirty="0">
                <a:solidFill>
                  <a:srgbClr val="1F3864"/>
                </a:solidFill>
                <a:latin typeface="微软雅黑"/>
                <a:ea typeface="微软雅黑"/>
              </a:rPr>
              <a:t>复杂生命周期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26280"/>
            <a:ext cx="45720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支持提前交割、提前违约、原价/市价展期、全部违约、保证金增补，自动生成关联交易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4023360"/>
            <a:ext cx="822960" cy="822960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023360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 dirty="0">
                <a:solidFill>
                  <a:srgbClr val="1F3864"/>
                </a:solidFill>
                <a:latin typeface="微软雅黑"/>
                <a:ea typeface="微软雅黑"/>
              </a:rPr>
              <a:t>保证金与轧差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526280"/>
            <a:ext cx="45720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保证金扣减/退还/没收全程管理，轧差账户冻结/释放机制，提前违约余额校验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09728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144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微软雅黑"/>
                <a:ea typeface="微软雅黑"/>
              </a:rPr>
              <a:t>五、系统特色与创新（二）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0"/>
            <a:ext cx="1280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10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 dirty="0">
                <a:solidFill>
                  <a:srgbClr val="FFFFFF"/>
                </a:solidFill>
                <a:latin typeface="微软雅黑"/>
                <a:ea typeface="微软雅黑"/>
              </a:rPr>
              <a:t>银行代客外汇交易系统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 dirty="0">
                <a:solidFill>
                  <a:srgbClr val="1F3864"/>
                </a:solidFill>
                <a:latin typeface="微软雅黑"/>
                <a:ea typeface="微软雅黑"/>
              </a:rPr>
              <a:t>期权业务完备 · 定时任务驱动 · 监管合规预留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微软雅黑"/>
                <a:ea typeface="微软雅黑"/>
              </a:rPr>
              <a:t>  期权业务完备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5394960" cy="41148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欧式 / 美式期权全流程支持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价内提醒：牌价达到执行价格自动提示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行权 / 放弃采用审批制，杜绝误操作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期权费按面值 5% 自动计算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期权费交割日自动收付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ED7D31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已放弃/已行权交易自动移出存续期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394960" cy="4572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54480"/>
            <a:ext cx="5394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微软雅黑"/>
                <a:ea typeface="微软雅黑"/>
              </a:rPr>
              <a:t>  定时任务与监管合规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303520" cy="41148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到期交割任务：每日扫描自动处理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牌价刷新任务：每小时更新牌价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交割失败支持余额补充后重试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预留 RCPMIS 报送字段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预留结售汇用途代码、外汇申报代码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dirty="0">
                <a:solidFill>
                  <a:srgbClr val="2E5C8A"/>
                </a:solidFill>
                <a:latin typeface="微软雅黑"/>
                <a:ea typeface="微软雅黑"/>
              </a:rPr>
              <a:t>● </a:t>
            </a: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交易生命周期全程记录，支持审计追溯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09728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144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微软雅黑"/>
                <a:ea typeface="微软雅黑"/>
              </a:rPr>
              <a:t>五、系统特色与创新（三）· 数据架构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0"/>
            <a:ext cx="1280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11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 dirty="0">
                <a:solidFill>
                  <a:srgbClr val="FFFFFF"/>
                </a:solidFill>
                <a:latin typeface="微软雅黑"/>
                <a:ea typeface="微软雅黑"/>
              </a:rPr>
              <a:t>银行代客外汇交易系统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dirty="0">
                <a:solidFill>
                  <a:srgbClr val="666666"/>
                </a:solidFill>
                <a:latin typeface="微软雅黑"/>
                <a:ea typeface="微软雅黑"/>
              </a:rPr>
              <a:t>主表 + 子表分表设计，统一索引跨产品查询，便于扩展新产品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303520"/>
                <a:gridCol w="3657600"/>
              </a:tblGrid>
              <a:tr h="5715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数据分组</a:t>
                      </a:r>
                    </a:p>
                  </a:txBody>
                  <a:tcPr anchor="ctr" marL="50800" marR="50800" marT="25400" marB="25400">
                    <a:solidFill>
                      <a:srgbClr val="2E5C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主要数据表</a:t>
                      </a:r>
                    </a:p>
                  </a:txBody>
                  <a:tcPr anchor="ctr" marL="50800" marR="50800" marT="25400" marB="25400">
                    <a:solidFill>
                      <a:srgbClr val="2E5C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anchor="ctr" marL="50800" marR="50800" marT="25400" marB="25400">
                    <a:solidFill>
                      <a:srgbClr val="2E5C8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机构与权限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机构表、角色表、用户表、用户角色关联表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三级机构、角色与用户管理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客户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客户表、客户账户表、客户余额表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客户信息、各币种账户与余额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外汇牌价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报价表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即期/远期/掉期三类牌价存储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交易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交易主表、即期/远期/掉期/期权子表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主表统一索引，按类型路由子表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保证金与授信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保证金账户表、流水表、授信额度表、参数表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保证金变动与授信管理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生命周期与审批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交易生命周期表、审批日志表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状态变更与审批过程记录</a:t>
                      </a:r>
                    </a:p>
                  </a:txBody>
                  <a:tcPr anchor="ctr" marL="50800" marR="50800" marT="25400" marB="25400">
                    <a:solidFill>
                      <a:srgbClr val="EEF3F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任务与调度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待办任务表、定时任务详情表、日志表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待办任务与定时任务管理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0" dirty="0">
                <a:solidFill>
                  <a:srgbClr val="666666"/>
                </a:solidFill>
                <a:latin typeface="微软雅黑"/>
                <a:ea typeface="微软雅黑"/>
              </a:rPr>
              <a:t>共 24 张数据表，覆盖机构权限、客户、牌价、交易、保证金、生命周期、任务、参数八大类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09728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144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微软雅黑"/>
                <a:ea typeface="微软雅黑"/>
              </a:rPr>
              <a:t>六、应用价值与总结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0"/>
            <a:ext cx="1280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12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 dirty="0">
                <a:solidFill>
                  <a:srgbClr val="FFFFFF"/>
                </a:solidFill>
                <a:latin typeface="微软雅黑"/>
                <a:ea typeface="微软雅黑"/>
              </a:rPr>
              <a:t>银行代客外汇交易系统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37160" cy="10972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000" b="1" dirty="0">
                <a:solidFill>
                  <a:srgbClr val="2E5C8A"/>
                </a:solidFill>
                <a:latin typeface="微软雅黑"/>
                <a:ea typeface="微软雅黑"/>
              </a:rPr>
              <a:t>效率提升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2743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微软雅黑"/>
                <a:ea typeface="微软雅黑"/>
              </a:rPr>
              <a:t>全流程电子化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188720"/>
            <a:ext cx="804672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牌价点击即可录入，审批在线完成，业务办理效率显著提升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137160" cy="10972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000" b="1" dirty="0">
                <a:solidFill>
                  <a:srgbClr val="ED7D31"/>
                </a:solidFill>
                <a:latin typeface="微软雅黑"/>
                <a:ea typeface="微软雅黑"/>
              </a:rPr>
              <a:t>风险可控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2743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微软雅黑"/>
                <a:ea typeface="微软雅黑"/>
              </a:rPr>
              <a:t>双人审批 + 保证金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68880"/>
            <a:ext cx="804672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经办复核工作流 + 保证金盯市 + 轧差控制，多维度防范操作风险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137160" cy="109728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49039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000" b="1" dirty="0">
                <a:solidFill>
                  <a:srgbClr val="D4A04C"/>
                </a:solidFill>
                <a:latin typeface="微软雅黑"/>
                <a:ea typeface="微软雅黑"/>
              </a:rPr>
              <a:t>合规保障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06239"/>
            <a:ext cx="2743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微软雅黑"/>
                <a:ea typeface="微软雅黑"/>
              </a:rPr>
              <a:t>监管报送预留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749039"/>
            <a:ext cx="804672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预留 RCPMIS 与结售汇用途代码字段，满足外汇管理报送要求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29199"/>
            <a:ext cx="137160" cy="109728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29199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000" b="1" dirty="0">
                <a:solidFill>
                  <a:srgbClr val="5B9BD5"/>
                </a:solidFill>
                <a:latin typeface="微软雅黑"/>
                <a:ea typeface="微软雅黑"/>
              </a:rPr>
              <a:t>易于扩展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399"/>
            <a:ext cx="2743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微软雅黑"/>
                <a:ea typeface="微软雅黑"/>
              </a:rPr>
              <a:t>分表设计 + 参数化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029199"/>
            <a:ext cx="804672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400" b="0" dirty="0">
                <a:solidFill>
                  <a:srgbClr val="333333"/>
                </a:solidFill>
                <a:latin typeface="微软雅黑"/>
                <a:ea typeface="微软雅黑"/>
              </a:rPr>
              <a:t>主表子表分离 + 系统参数可配置，便于新产品接入与规则调整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09728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144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微软雅黑"/>
                <a:ea typeface="微软雅黑"/>
              </a:rPr>
              <a:t>六、应用价值与总结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0"/>
            <a:ext cx="1280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13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 dirty="0">
                <a:solidFill>
                  <a:srgbClr val="FFFFFF"/>
                </a:solidFill>
                <a:latin typeface="微软雅黑"/>
                <a:ea typeface="微软雅黑"/>
              </a:rPr>
              <a:t>银行代客外汇交易系统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200" b="1" dirty="0">
                <a:solidFill>
                  <a:srgbClr val="1F3864"/>
                </a:solidFill>
                <a:latin typeface="微软雅黑"/>
                <a:ea typeface="微软雅黑"/>
              </a:rPr>
              <a:t>系统核心价值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37360"/>
            <a:ext cx="100584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覆盖即期、远期、掉期、期权四大外汇产品全生命周期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514600"/>
            <a:ext cx="365760" cy="365760"/>
          </a:xfrm>
          <a:prstGeom prst="ellipse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423160"/>
            <a:ext cx="100584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三级机构 + 经办—复核—授权工作流，规范审批流程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08960"/>
            <a:ext cx="100584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提前交割、提前违约、展期等复杂业务自动处理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886200"/>
            <a:ext cx="365760" cy="365760"/>
          </a:xfrm>
          <a:prstGeom prst="ellipse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94760"/>
            <a:ext cx="100584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保证金与轧差全程管控，风险可控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72000"/>
            <a:ext cx="365760" cy="365760"/>
          </a:xfrm>
          <a:prstGeom prst="ellipse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480560"/>
            <a:ext cx="100584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定时任务驱动到期交割与牌价刷新，自动化运行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257800"/>
            <a:ext cx="365760" cy="365760"/>
          </a:xfrm>
          <a:prstGeom prst="ellipse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166360"/>
            <a:ext cx="100584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700" b="0" dirty="0">
                <a:solidFill>
                  <a:srgbClr val="333333"/>
                </a:solidFill>
                <a:latin typeface="微软雅黑"/>
                <a:ea typeface="微软雅黑"/>
              </a:rPr>
              <a:t>预留监管报送字段，满足合规要求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2103120" cy="914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91695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6000" b="1" dirty="0">
                <a:solidFill>
                  <a:srgbClr val="FFFFFF"/>
                </a:solidFill>
                <a:latin typeface="微软雅黑"/>
                <a:ea typeface="微软雅黑"/>
              </a:rP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91840"/>
            <a:ext cx="12191695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400" b="0" dirty="0">
                <a:solidFill>
                  <a:srgbClr val="D4A04C"/>
                </a:solidFill>
                <a:latin typeface="微软雅黑"/>
                <a:ea typeface="微软雅黑"/>
              </a:rPr>
              <a:t>THANK 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572000"/>
            <a:ext cx="12191695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0" dirty="0">
                <a:solidFill>
                  <a:srgbClr val="5B9BD5"/>
                </a:solidFill>
                <a:latin typeface="微软雅黑"/>
                <a:ea typeface="微软雅黑"/>
              </a:rPr>
              <a:t>银行代客外汇交易系统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120640"/>
            <a:ext cx="12191695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0" dirty="0">
                <a:solidFill>
                  <a:srgbClr val="FFFFFF"/>
                </a:solidFill>
                <a:latin typeface="微软雅黑"/>
                <a:ea typeface="微软雅黑"/>
              </a:rPr>
              <a:t>敬请各位评委批评指正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